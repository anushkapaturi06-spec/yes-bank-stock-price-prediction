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FB0FA1-ED1B-A059-1066-A3EDB33D77C4}" v="384" dt="2026-07-08T16:12:54.011"/>
    <p1510:client id="{FC17B604-0414-4928-B72F-364001B9A22D}" v="92" dt="2026-07-07T13:13:20.0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23041"/>
            <a:ext cx="11377437" cy="2246769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spAutoFit/>
          </a:bodyPr>
          <a:lstStyle/>
          <a:p>
            <a:pPr algn="ctr">
              <a:defRPr sz="2800" b="1">
                <a:solidFill>
                  <a:srgbClr val="14285A"/>
                </a:solidFill>
              </a:defRPr>
            </a:pPr>
            <a:r>
              <a:rPr sz="7000" dirty="0"/>
              <a:t>Yes Bank </a:t>
            </a:r>
            <a:endParaRPr lang="en-US" sz="7000">
              <a:ea typeface="Calibri"/>
              <a:cs typeface="Calibri"/>
            </a:endParaRPr>
          </a:p>
          <a:p>
            <a:pPr algn="ctr">
              <a:defRPr sz="2800" b="1">
                <a:solidFill>
                  <a:srgbClr val="14285A"/>
                </a:solidFill>
              </a:defRPr>
            </a:pPr>
            <a:r>
              <a:rPr sz="7000"/>
              <a:t>Stock Price </a:t>
            </a:r>
            <a:r>
              <a:rPr sz="7000" dirty="0"/>
              <a:t>Prediction</a:t>
            </a:r>
            <a:endParaRPr lang="en-US" sz="7000">
              <a:ea typeface="Calibri"/>
              <a:cs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2134" y="3753763"/>
            <a:ext cx="10515600" cy="9541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br>
              <a:rPr sz="2800" dirty="0"/>
            </a:br>
            <a:r>
              <a:rPr sz="2800"/>
              <a:t>Prepared by: Anushka</a:t>
            </a:r>
            <a:r>
              <a:rPr lang="en-GB" sz="2800"/>
              <a:t> Reddy Paturi</a:t>
            </a:r>
            <a:endParaRPr lang="en-US" sz="2800"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• Predict the Closing Stock Price of Yes Bank using historical stock data.</a:t>
            </a:r>
            <a:br/>
            <a:r>
              <a:t>• Understand market behaviour through EDA.</a:t>
            </a:r>
            <a:br/>
            <a:r>
              <a:t>• Compare multiple regression models and identify the best performer.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Dataset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Dataset Features:</a:t>
            </a:r>
            <a:br/>
            <a:r>
              <a:t>• Date</a:t>
            </a:r>
            <a:br/>
            <a:r>
              <a:t>• Open</a:t>
            </a:r>
            <a:br/>
            <a:r>
              <a:t>• High</a:t>
            </a:r>
            <a:br/>
            <a:r>
              <a:t>• Low</a:t>
            </a:r>
            <a:br/>
            <a:r>
              <a:t>• Close (Target)</a:t>
            </a:r>
            <a:br/>
            <a:br/>
            <a:r>
              <a:t>Preprocessing:</a:t>
            </a:r>
            <a:br/>
            <a:r>
              <a:t>• Converted Date to datetime</a:t>
            </a:r>
            <a:br/>
            <a:r>
              <a:t>• Extracted Year &amp; Month</a:t>
            </a:r>
            <a:br/>
            <a:r>
              <a:t>• Checked missing values &amp; duplicates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64AEE1-1251-71F7-DC6E-AF2CB32EF7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659" y="375867"/>
            <a:ext cx="5807776" cy="28910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17553A-CDB6-5109-7ED2-8894AB2D3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549" y="3428948"/>
            <a:ext cx="4187704" cy="32513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Data Cleaning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✓ No significant missing values</a:t>
            </a:r>
            <a:br/>
            <a:r>
              <a:t>✓ Duplicate records checked and removed if present</a:t>
            </a:r>
            <a:br/>
            <a:r>
              <a:t>✓ Corrected data types</a:t>
            </a:r>
            <a:br/>
            <a:r>
              <a:t>✓ Dataset prepared for analysis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0C4B5-5060-796A-6760-DE303CE09D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310" y="2838162"/>
            <a:ext cx="3085983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EDA &amp; Business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• Stock prices moved together with strong positive correlation.</a:t>
            </a:r>
            <a:br/>
            <a:r>
              <a:t>• Most prices were concentrated in lower ranges.</a:t>
            </a:r>
            <a:br/>
            <a:r>
              <a:t>• Significant price decline observed after 2018.</a:t>
            </a:r>
            <a:br/>
            <a:r>
              <a:t>• Outliers reflected actual market events.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7DBAD7-0E95-6E26-9AF8-7E1F84802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82" y="2705337"/>
            <a:ext cx="5561544" cy="37984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E84F26-0C6B-BED7-29B9-03EA156055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937" y="2705338"/>
            <a:ext cx="6046180" cy="3688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Correlation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Heatmap observations:</a:t>
            </a:r>
            <a:br/>
            <a:r>
              <a:t>• Open ↔ Close : Very Strong</a:t>
            </a:r>
            <a:br/>
            <a:r>
              <a:t>• High ↔ Close : Very Strong</a:t>
            </a:r>
            <a:br/>
            <a:r>
              <a:t>• Low ↔ Close : Very Strong</a:t>
            </a:r>
            <a:br/>
            <a:r>
              <a:t>These variables were selected as important predictors.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C068E4-7ECC-9091-152D-82868771A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103" y="2949612"/>
            <a:ext cx="4623497" cy="37129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Hypothesis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Hypothesis 1: Open vs Close → Pearson Correlation</a:t>
            </a:r>
            <a:br/>
            <a:r>
              <a:t>Hypothesis 2: Before 2018 vs After 2018 → Independent t-test</a:t>
            </a:r>
            <a:br/>
            <a:r>
              <a:t>Hypothesis 3: High vs Close → Pearson Correlation</a:t>
            </a:r>
            <a:br/>
            <a:r>
              <a:t>All tests produced p-values &lt; 0.05.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1045F5-ECFC-A003-A3BF-F20D2889C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368" y="3428668"/>
            <a:ext cx="9992147" cy="250575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Feature Engineering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• Created Year and Month features.</a:t>
            </a:r>
            <a:br/>
            <a:r>
              <a:t>• Selected numerical predictors.</a:t>
            </a:r>
            <a:br/>
            <a:r>
              <a:t>• Train-Test Split: 80% / 20%.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ED2040-B691-A877-1A6B-959288F95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838" y="2517459"/>
            <a:ext cx="8248338" cy="37528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Models Implemented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212365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rPr dirty="0"/>
              <a:t>1. Linear Regression</a:t>
            </a:r>
            <a:br>
              <a:rPr dirty="0"/>
            </a:br>
            <a:r>
              <a:rPr dirty="0"/>
              <a:t>2. </a:t>
            </a:r>
            <a:r>
              <a:rPr lang="en-GB" dirty="0"/>
              <a:t>Decision Tree </a:t>
            </a:r>
            <a:r>
              <a:rPr lang="en-US" dirty="0"/>
              <a:t>Regressor</a:t>
            </a:r>
            <a:r>
              <a:rPr lang="en-GB" dirty="0"/>
              <a:t> </a:t>
            </a:r>
            <a:br>
              <a:rPr dirty="0"/>
            </a:br>
            <a:r>
              <a:rPr dirty="0"/>
              <a:t>3. </a:t>
            </a:r>
            <a:r>
              <a:rPr lang="en-US" dirty="0"/>
              <a:t>Random Forest Regressor</a:t>
            </a:r>
            <a:br>
              <a:rPr lang="en-US" dirty="0"/>
            </a:br>
            <a:br>
              <a:rPr dirty="0"/>
            </a:br>
            <a:br>
              <a:rPr dirty="0"/>
            </a:br>
            <a:r>
              <a:rPr dirty="0"/>
              <a:t>Hyperparameter tuning performed using </a:t>
            </a:r>
            <a:r>
              <a:rPr dirty="0" err="1"/>
              <a:t>GridSearchCV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Model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246221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rPr dirty="0"/>
              <a:t>Evaluation Metrics:</a:t>
            </a:r>
            <a:br>
              <a:rPr dirty="0"/>
            </a:br>
            <a:r>
              <a:rPr dirty="0"/>
              <a:t>• MAE</a:t>
            </a:r>
            <a:br>
              <a:rPr dirty="0"/>
            </a:br>
            <a:r>
              <a:rPr dirty="0"/>
              <a:t>• MSE</a:t>
            </a:r>
            <a:br>
              <a:rPr dirty="0"/>
            </a:br>
            <a:r>
              <a:rPr dirty="0"/>
              <a:t>• RMSE</a:t>
            </a:r>
            <a:br>
              <a:rPr dirty="0"/>
            </a:br>
            <a:r>
              <a:t>• R² Score</a:t>
            </a:r>
            <a:br>
              <a:rPr dirty="0"/>
            </a:br>
            <a:br>
              <a:rPr dirty="0"/>
            </a:br>
            <a:endParaRPr lang="en-US" dirty="0">
              <a:ea typeface="Calibri"/>
              <a:cs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8A033E-6CEA-DEA3-85A8-63B334C6CD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6041" y="653052"/>
            <a:ext cx="4925714" cy="39022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DEA24C-2C7D-B98F-5A49-4CD4CE2464D2}"/>
              </a:ext>
            </a:extLst>
          </p:cNvPr>
          <p:cNvSpPr txBox="1"/>
          <p:nvPr/>
        </p:nvSpPr>
        <p:spPr>
          <a:xfrm>
            <a:off x="402616" y="3449080"/>
            <a:ext cx="6294237" cy="110799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200" dirty="0">
                <a:solidFill>
                  <a:srgbClr val="282828"/>
                </a:solidFill>
                <a:ea typeface="Calibri"/>
                <a:cs typeface="Calibri"/>
              </a:rPr>
              <a:t>Linear Regression was selected as the final model because it achieved the lowest prediction error and the highest </a:t>
            </a:r>
            <a:r>
              <a:rPr lang="en-US" sz="2200">
                <a:solidFill>
                  <a:srgbClr val="282828"/>
                </a:solidFill>
                <a:ea typeface="+mn-lt"/>
                <a:cs typeface="+mn-lt"/>
              </a:rPr>
              <a:t>R²</a:t>
            </a:r>
            <a:r>
              <a:rPr lang="en-US" sz="2200">
                <a:solidFill>
                  <a:srgbClr val="282828"/>
                </a:solidFill>
                <a:ea typeface="Calibri"/>
                <a:cs typeface="Calibri"/>
              </a:rPr>
              <a:t> score among all the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t>• Supports investment decision-making.</a:t>
            </a:r>
            <a:br/>
            <a:r>
              <a:t>• Helps estimate future closing prices.</a:t>
            </a:r>
            <a:br/>
            <a:r>
              <a:t>• Can assist analysts in understanding market behaviour.</a:t>
            </a:r>
            <a:br/>
            <a:r>
              <a:t>• Demonstrates practical application of ML in finance.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85A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0" cy="0"/>
          </a:xfrm>
          <a:prstGeom prst="rect">
            <a:avLst/>
          </a:prstGeom>
          <a:solidFill>
            <a:srgbClr val="1E5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31393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2200">
                <a:solidFill>
                  <a:srgbClr val="282828"/>
                </a:solidFill>
              </a:defRPr>
            </a:pPr>
            <a:r>
              <a:rPr dirty="0"/>
              <a:t>Conclusion:</a:t>
            </a:r>
            <a:br>
              <a:rPr dirty="0"/>
            </a:br>
            <a:r>
              <a:rPr lang="en-US" dirty="0">
                <a:ea typeface="Calibri"/>
                <a:cs typeface="Calibri"/>
              </a:rPr>
              <a:t>Linear </a:t>
            </a:r>
            <a:r>
              <a:rPr lang="en-US">
                <a:ea typeface="Calibri"/>
                <a:cs typeface="Calibri"/>
              </a:rPr>
              <a:t>Regression</a:t>
            </a:r>
            <a:r>
              <a:rPr lang="en-US" dirty="0">
                <a:ea typeface="Calibri"/>
                <a:cs typeface="Calibri"/>
              </a:rPr>
              <a:t> provided the best overall prediction performance by achieving the </a:t>
            </a:r>
            <a:r>
              <a:rPr lang="en-US">
                <a:ea typeface="Calibri"/>
                <a:cs typeface="Calibri"/>
              </a:rPr>
              <a:t>lowest prediction error and the highest </a:t>
            </a:r>
            <a:r>
              <a:rPr lang="en-US">
                <a:ea typeface="+mn-lt"/>
                <a:cs typeface="+mn-lt"/>
              </a:rPr>
              <a:t>R²</a:t>
            </a:r>
            <a:r>
              <a:rPr lang="en-US">
                <a:ea typeface="Calibri"/>
                <a:cs typeface="Calibri"/>
              </a:rPr>
              <a:t> score among the implemented models. </a:t>
            </a:r>
            <a:r>
              <a:rPr lang="en-US" dirty="0">
                <a:ea typeface="Calibri"/>
                <a:cs typeface="Calibri"/>
              </a:rPr>
              <a:t>Therefore, it was selected as the final model for stock price prediction. </a:t>
            </a:r>
            <a:br>
              <a:rPr dirty="0"/>
            </a:br>
            <a:br>
              <a:rPr dirty="0"/>
            </a:br>
            <a:r>
              <a:rPr dirty="0"/>
              <a:t>Future Work:</a:t>
            </a:r>
            <a:br>
              <a:rPr dirty="0"/>
            </a:br>
            <a:r>
              <a:rPr dirty="0"/>
              <a:t>• Use live stock market data</a:t>
            </a:r>
            <a:br>
              <a:rPr dirty="0"/>
            </a:br>
            <a:r>
              <a:rPr dirty="0"/>
              <a:t>• Add technical indicators</a:t>
            </a:r>
            <a:br>
              <a:rPr dirty="0"/>
            </a:br>
            <a:r>
              <a:rPr dirty="0"/>
              <a:t>• Deploy as a web application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Custom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103</cp:revision>
  <dcterms:created xsi:type="dcterms:W3CDTF">2013-01-27T09:14:16Z</dcterms:created>
  <dcterms:modified xsi:type="dcterms:W3CDTF">2026-07-08T16:12:56Z</dcterms:modified>
  <cp:category/>
</cp:coreProperties>
</file>